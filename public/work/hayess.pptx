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embeddedFontLst>
    <p:embeddedFont>
      <p:font typeface="Arimo" panose="020B0604020202020204"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E381FF-7BC5-4FA5-BA31-9A0C5FC0542D}" v="106" dt="2026-01-19T14:50:54.9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sp>
        <p:nvSpPr>
          <p:cNvPr id="85" name="Google Shape;85;p13"/>
          <p:cNvSpPr txBox="1"/>
          <p:nvPr/>
        </p:nvSpPr>
        <p:spPr>
          <a:xfrm>
            <a:off x="395287" y="2209948"/>
            <a:ext cx="11401425" cy="63996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200" b="1" i="0" u="none" strike="noStrike" cap="none">
                <a:solidFill>
                  <a:srgbClr val="003366"/>
                </a:solidFill>
                <a:latin typeface="Arimo"/>
                <a:ea typeface="Arimo"/>
                <a:cs typeface="Arimo"/>
                <a:sym typeface="Arimo"/>
              </a:rPr>
              <a:t>Hayes and Harlington</a:t>
            </a:r>
            <a:endParaRPr/>
          </a:p>
        </p:txBody>
      </p:sp>
      <p:sp>
        <p:nvSpPr>
          <p:cNvPr id="86" name="Google Shape;86;p13"/>
          <p:cNvSpPr txBox="1"/>
          <p:nvPr/>
        </p:nvSpPr>
        <p:spPr>
          <a:xfrm>
            <a:off x="395287" y="3326159"/>
            <a:ext cx="11401425" cy="54858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600" b="1" i="0" u="none" strike="noStrike" cap="none">
                <a:solidFill>
                  <a:srgbClr val="003366"/>
                </a:solidFill>
                <a:latin typeface="Arimo"/>
                <a:ea typeface="Arimo"/>
                <a:cs typeface="Arimo"/>
                <a:sym typeface="Arimo"/>
              </a:rPr>
              <a:t>Elizabeth Line: A New Lifeline for Londoners</a:t>
            </a:r>
            <a:endParaRPr/>
          </a:p>
        </p:txBody>
      </p:sp>
      <p:sp>
        <p:nvSpPr>
          <p:cNvPr id="87" name="Google Shape;87;p13"/>
          <p:cNvSpPr txBox="1"/>
          <p:nvPr/>
        </p:nvSpPr>
        <p:spPr>
          <a:xfrm>
            <a:off x="666750" y="4065240"/>
            <a:ext cx="10858500" cy="4875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400" b="0" i="1" u="none" strike="noStrike" cap="none">
                <a:solidFill>
                  <a:srgbClr val="111111"/>
                </a:solidFill>
                <a:latin typeface="Arimo"/>
                <a:ea typeface="Arimo"/>
                <a:cs typeface="Arimo"/>
                <a:sym typeface="Arimo"/>
              </a:rPr>
              <a:t>by Nitu Choudhary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1"/>
        <p:cNvGrpSpPr/>
        <p:nvPr/>
      </p:nvGrpSpPr>
      <p:grpSpPr>
        <a:xfrm>
          <a:off x="0" y="0"/>
          <a:ext cx="0" cy="0"/>
          <a:chOff x="0" y="0"/>
          <a:chExt cx="0" cy="0"/>
        </a:xfrm>
      </p:grpSpPr>
      <p:sp>
        <p:nvSpPr>
          <p:cNvPr id="92" name="Google Shape;92;p14"/>
          <p:cNvSpPr txBox="1"/>
          <p:nvPr/>
        </p:nvSpPr>
        <p:spPr>
          <a:xfrm>
            <a:off x="666750" y="622788"/>
            <a:ext cx="11401425" cy="89713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003366"/>
                </a:solidFill>
                <a:latin typeface="Arimo"/>
                <a:ea typeface="Arimo"/>
                <a:cs typeface="Arimo"/>
                <a:sym typeface="Arimo"/>
              </a:rPr>
              <a:t>Hayes and Harlington: Historical and Administrative Background</a:t>
            </a:r>
            <a:endParaRPr/>
          </a:p>
        </p:txBody>
      </p:sp>
      <p:sp>
        <p:nvSpPr>
          <p:cNvPr id="93" name="Google Shape;93;p14"/>
          <p:cNvSpPr/>
          <p:nvPr/>
        </p:nvSpPr>
        <p:spPr>
          <a:xfrm>
            <a:off x="666750" y="1487685"/>
            <a:ext cx="10858500" cy="2857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5" name="Google Shape;95;p14"/>
          <p:cNvSpPr txBox="1"/>
          <p:nvPr/>
        </p:nvSpPr>
        <p:spPr>
          <a:xfrm>
            <a:off x="666750" y="1706760"/>
            <a:ext cx="10858500" cy="9429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111111"/>
                </a:solidFill>
                <a:latin typeface="Arimo"/>
                <a:ea typeface="Arimo"/>
                <a:cs typeface="Arimo"/>
                <a:sym typeface="Arimo"/>
              </a:rPr>
              <a:t>In Middlesex, England, Hayes and Harlington was a previous local government area that was formally recognized as an urban district. It represented the area's shift from a rural community to a more urban and industrial locality throughout its existence from 1904 to 1965.</a:t>
            </a:r>
            <a:endParaRPr/>
          </a:p>
        </p:txBody>
      </p:sp>
      <p:sp>
        <p:nvSpPr>
          <p:cNvPr id="96" name="Google Shape;96;p14"/>
          <p:cNvSpPr txBox="1"/>
          <p:nvPr/>
        </p:nvSpPr>
        <p:spPr>
          <a:xfrm>
            <a:off x="666750" y="2840235"/>
            <a:ext cx="10858500" cy="12573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111111"/>
                </a:solidFill>
                <a:latin typeface="Arimo"/>
                <a:ea typeface="Arimo"/>
                <a:cs typeface="Arimo"/>
                <a:sym typeface="Arimo"/>
              </a:rPr>
              <a:t>The district was initially created in 1904 as the Hayes Urban District as a result of local industry expansion and population increase. Hayes grew quickly in the early 20th century as a result of manufacturing, bricklaying, and better transportation options like the railroad and canal systems. A local authority was required to oversee public services, housing, and sanitation as a result of these developments.</a:t>
            </a:r>
            <a:endParaRPr/>
          </a:p>
        </p:txBody>
      </p:sp>
      <p:sp>
        <p:nvSpPr>
          <p:cNvPr id="97" name="Google Shape;97;p14"/>
          <p:cNvSpPr txBox="1"/>
          <p:nvPr/>
        </p:nvSpPr>
        <p:spPr>
          <a:xfrm>
            <a:off x="666750" y="4288035"/>
            <a:ext cx="10858500" cy="18859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111111"/>
                </a:solidFill>
                <a:latin typeface="Arimo"/>
                <a:ea typeface="Arimo"/>
                <a:cs typeface="Arimo"/>
                <a:sym typeface="Arimo"/>
              </a:rPr>
              <a:t>London's governmental structure was restructured in 1965 by the London Government Act 1963. Consequently, the Hayes and Harlington Urban District was eliminated and its territory became part of Greater London's London Borough of Hillingdon. The name Hayes and Harlington is still in use today, especially in terms of community identification, transportation infrastructure, and political representation, even though the urban district is no longer an administrative entity. The area's strong working-class roots and continued significance within west London are explained by this historical context.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1"/>
        <p:cNvGrpSpPr/>
        <p:nvPr/>
      </p:nvGrpSpPr>
      <p:grpSpPr>
        <a:xfrm>
          <a:off x="0" y="0"/>
          <a:ext cx="0" cy="0"/>
          <a:chOff x="0" y="0"/>
          <a:chExt cx="0" cy="0"/>
        </a:xfrm>
      </p:grpSpPr>
      <p:sp>
        <p:nvSpPr>
          <p:cNvPr id="103" name="Google Shape;103;p15"/>
          <p:cNvSpPr txBox="1"/>
          <p:nvPr/>
        </p:nvSpPr>
        <p:spPr>
          <a:xfrm>
            <a:off x="666750" y="936128"/>
            <a:ext cx="11401425" cy="43428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003366"/>
                </a:solidFill>
                <a:latin typeface="Arimo"/>
                <a:ea typeface="Arimo"/>
                <a:cs typeface="Arimo"/>
                <a:sym typeface="Arimo"/>
              </a:rPr>
              <a:t>Demographics &amp; History</a:t>
            </a:r>
            <a:endParaRPr/>
          </a:p>
        </p:txBody>
      </p:sp>
      <p:sp>
        <p:nvSpPr>
          <p:cNvPr id="104" name="Google Shape;104;p15"/>
          <p:cNvSpPr txBox="1"/>
          <p:nvPr/>
        </p:nvSpPr>
        <p:spPr>
          <a:xfrm>
            <a:off x="666750" y="1973163"/>
            <a:ext cx="10858500" cy="3429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a:solidFill>
                  <a:srgbClr val="111111"/>
                </a:solidFill>
                <a:latin typeface="Arimo"/>
                <a:ea typeface="Arimo"/>
                <a:cs typeface="Arimo"/>
                <a:sym typeface="Arimo"/>
              </a:rPr>
              <a:t>• Population growth and ethnicity - 2021 census report</a:t>
            </a:r>
            <a:endParaRPr/>
          </a:p>
        </p:txBody>
      </p:sp>
      <p:sp>
        <p:nvSpPr>
          <p:cNvPr id="105" name="Google Shape;105;p15"/>
          <p:cNvSpPr txBox="1"/>
          <p:nvPr/>
        </p:nvSpPr>
        <p:spPr>
          <a:xfrm>
            <a:off x="666750" y="2316063"/>
            <a:ext cx="10858500" cy="6858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a:solidFill>
                  <a:srgbClr val="111111"/>
                </a:solidFill>
                <a:latin typeface="Arimo"/>
                <a:ea typeface="Arimo"/>
                <a:cs typeface="Arimo"/>
                <a:sym typeface="Arimo"/>
              </a:rPr>
              <a:t>• The town's population, including its localities Hayes End, Harlington and Yeading, was recorded in the 2021 census as 93,928.</a:t>
            </a:r>
            <a:endParaRPr/>
          </a:p>
        </p:txBody>
      </p:sp>
      <p:sp>
        <p:nvSpPr>
          <p:cNvPr id="106" name="Google Shape;106;p15"/>
          <p:cNvSpPr txBox="1"/>
          <p:nvPr/>
        </p:nvSpPr>
        <p:spPr>
          <a:xfrm>
            <a:off x="666750" y="3556992"/>
            <a:ext cx="10858500" cy="10287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1" i="0" u="none" strike="noStrike" cap="none">
                <a:solidFill>
                  <a:srgbClr val="B91C1C"/>
                </a:solidFill>
                <a:latin typeface="Arimo"/>
                <a:ea typeface="Arimo"/>
                <a:cs typeface="Arimo"/>
                <a:sym typeface="Arimo"/>
              </a:rPr>
              <a:t>Population -</a:t>
            </a:r>
            <a:r>
              <a:rPr lang="en-US" sz="1800" b="0" i="0" u="none" strike="noStrike" cap="none">
                <a:solidFill>
                  <a:srgbClr val="111111"/>
                </a:solidFill>
                <a:latin typeface="Arimo"/>
                <a:ea typeface="Arimo"/>
                <a:cs typeface="Arimo"/>
                <a:sym typeface="Arimo"/>
              </a:rPr>
              <a:t> comparing the 2011 Census figures with those with 2015-based population projections, the borough's population in 2017 has increased by approximately 10.9% (from 273,936 to 303,870); by comparison London's population has increased by 8.5%.</a:t>
            </a:r>
            <a:endParaRPr/>
          </a:p>
        </p:txBody>
      </p:sp>
      <p:sp>
        <p:nvSpPr>
          <p:cNvPr id="107" name="Google Shape;107;p15"/>
          <p:cNvSpPr txBox="1"/>
          <p:nvPr/>
        </p:nvSpPr>
        <p:spPr>
          <a:xfrm>
            <a:off x="666750" y="5140821"/>
            <a:ext cx="10858500" cy="6858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a:solidFill>
                  <a:srgbClr val="111111"/>
                </a:solidFill>
                <a:latin typeface="Arimo"/>
                <a:ea typeface="Arimo"/>
                <a:cs typeface="Arimo"/>
                <a:sym typeface="Arimo"/>
              </a:rPr>
              <a:t>Hillingdon has an average of 25.9 people per hectare; this is the third lowest population density among London boroughs.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1"/>
        <p:cNvGrpSpPr/>
        <p:nvPr/>
      </p:nvGrpSpPr>
      <p:grpSpPr>
        <a:xfrm>
          <a:off x="0" y="0"/>
          <a:ext cx="0" cy="0"/>
          <a:chOff x="0" y="0"/>
          <a:chExt cx="0" cy="0"/>
        </a:xfrm>
      </p:grpSpPr>
      <p:sp>
        <p:nvSpPr>
          <p:cNvPr id="113" name="Google Shape;113;p16"/>
          <p:cNvSpPr txBox="1"/>
          <p:nvPr/>
        </p:nvSpPr>
        <p:spPr>
          <a:xfrm>
            <a:off x="617904" y="759558"/>
            <a:ext cx="10858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B91C1C"/>
                </a:solidFill>
                <a:latin typeface="Arimo"/>
                <a:ea typeface="Arimo"/>
                <a:cs typeface="Arimo"/>
                <a:sym typeface="Arimo"/>
              </a:rPr>
              <a:t>Gender -</a:t>
            </a:r>
            <a:r>
              <a:rPr lang="en-US" sz="1500" b="0" i="0" u="none" strike="noStrike" cap="none">
                <a:solidFill>
                  <a:srgbClr val="111111"/>
                </a:solidFill>
                <a:latin typeface="Arimo"/>
                <a:ea typeface="Arimo"/>
                <a:cs typeface="Arimo"/>
                <a:sym typeface="Arimo"/>
              </a:rPr>
              <a:t> 152,246 of borough residents are male and 151,624 are female. </a:t>
            </a:r>
            <a:r>
              <a:rPr lang="en-US" sz="1500" b="1" i="0" u="none" strike="noStrike" cap="none">
                <a:solidFill>
                  <a:srgbClr val="B91C1C"/>
                </a:solidFill>
                <a:latin typeface="Arimo"/>
                <a:ea typeface="Arimo"/>
                <a:cs typeface="Arimo"/>
                <a:sym typeface="Arimo"/>
              </a:rPr>
              <a:t>Age -</a:t>
            </a:r>
            <a:r>
              <a:rPr lang="en-US" sz="1500" b="0" i="0" u="none" strike="noStrike" cap="none">
                <a:solidFill>
                  <a:srgbClr val="111111"/>
                </a:solidFill>
                <a:latin typeface="Arimo"/>
                <a:ea typeface="Arimo"/>
                <a:cs typeface="Arimo"/>
                <a:sym typeface="Arimo"/>
              </a:rPr>
              <a:t> 21.7% of the borough population is under 16, 6.1% over 75 and 72.1% aged 16-74 (this is defined as working age).</a:t>
            </a:r>
            <a:endParaRPr/>
          </a:p>
        </p:txBody>
      </p:sp>
      <p:sp>
        <p:nvSpPr>
          <p:cNvPr id="114" name="Google Shape;114;p16"/>
          <p:cNvSpPr txBox="1"/>
          <p:nvPr/>
        </p:nvSpPr>
        <p:spPr>
          <a:xfrm>
            <a:off x="617904" y="1716842"/>
            <a:ext cx="10858500" cy="11430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B91C1C"/>
                </a:solidFill>
                <a:latin typeface="Arimo"/>
                <a:ea typeface="Arimo"/>
                <a:cs typeface="Arimo"/>
                <a:sym typeface="Arimo"/>
              </a:rPr>
              <a:t>Ethnicity -</a:t>
            </a:r>
            <a:r>
              <a:rPr lang="en-US" sz="1500" b="0" i="0" u="none" strike="noStrike" cap="none">
                <a:solidFill>
                  <a:srgbClr val="111111"/>
                </a:solidFill>
                <a:latin typeface="Arimo"/>
                <a:ea typeface="Arimo"/>
                <a:cs typeface="Arimo"/>
                <a:sym typeface="Arimo"/>
              </a:rPr>
              <a:t> Hillingdon's White British population decreased from 73% in the 2001 Census to 52% in the 2021 Census; Hillingdon's BAME (black, Asian, and minority Ethinic) population increased from 27% to 48% in the same period. Current data (from the Greater London Authority 2015 Round Trend-based Ethnic Group Population Projections) shows that Hillingdon's White British population in 2017 is 43% and the BAME population is 57%.</a:t>
            </a:r>
            <a:endParaRPr/>
          </a:p>
        </p:txBody>
      </p:sp>
      <p:sp>
        <p:nvSpPr>
          <p:cNvPr id="115" name="Google Shape;115;p16"/>
          <p:cNvSpPr txBox="1"/>
          <p:nvPr/>
        </p:nvSpPr>
        <p:spPr>
          <a:xfrm>
            <a:off x="617904" y="3108858"/>
            <a:ext cx="10858500" cy="8572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(In the 2021 census, the population of Hayes and Harlington was predominantly Asian, followed by White, and then Black, with a significant percentage identifying as Indian. The Asian ethnic group made up the largest portion, representing about 44.47% of the population, while the White group was around 32.04% and the Black group was 11.01%)</a:t>
            </a:r>
            <a:endParaRPr/>
          </a:p>
        </p:txBody>
      </p:sp>
      <p:sp>
        <p:nvSpPr>
          <p:cNvPr id="116" name="Google Shape;116;p16"/>
          <p:cNvSpPr txBox="1"/>
          <p:nvPr/>
        </p:nvSpPr>
        <p:spPr>
          <a:xfrm>
            <a:off x="617904" y="4410510"/>
            <a:ext cx="10858500" cy="8572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B91C1C"/>
                </a:solidFill>
                <a:latin typeface="Arimo"/>
                <a:ea typeface="Arimo"/>
                <a:cs typeface="Arimo"/>
                <a:sym typeface="Arimo"/>
              </a:rPr>
              <a:t>Religion -</a:t>
            </a:r>
            <a:r>
              <a:rPr lang="en-US" sz="1500" b="0" i="0" u="none" strike="noStrike" cap="none">
                <a:solidFill>
                  <a:srgbClr val="111111"/>
                </a:solidFill>
                <a:latin typeface="Arimo"/>
                <a:ea typeface="Arimo"/>
                <a:cs typeface="Arimo"/>
                <a:sym typeface="Arimo"/>
              </a:rPr>
              <a:t> The predominant religions in the borough 2021 are Christian - 134,813 (49.2%), Muslim – 29,065 (10.6%), Hindu - 22,033 (8%) and Sikh - 18,230 (6.7%), we also have a large percentage of residents stating 'no religion' - 46,492 (17%) and other – 23,303 (8.5%)</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0"/>
        <p:cNvGrpSpPr/>
        <p:nvPr/>
      </p:nvGrpSpPr>
      <p:grpSpPr>
        <a:xfrm>
          <a:off x="0" y="0"/>
          <a:ext cx="0" cy="0"/>
          <a:chOff x="0" y="0"/>
          <a:chExt cx="0" cy="0"/>
        </a:xfrm>
      </p:grpSpPr>
      <p:sp>
        <p:nvSpPr>
          <p:cNvPr id="121" name="Google Shape;121;p17"/>
          <p:cNvSpPr txBox="1"/>
          <p:nvPr/>
        </p:nvSpPr>
        <p:spPr>
          <a:xfrm>
            <a:off x="666750" y="476250"/>
            <a:ext cx="11401425" cy="394245"/>
          </a:xfrm>
          <a:prstGeom prst="rect">
            <a:avLst/>
          </a:prstGeom>
          <a:noFill/>
          <a:ln>
            <a:noFill/>
          </a:ln>
        </p:spPr>
        <p:txBody>
          <a:bodyPr spcFirstLastPara="1" wrap="square" lIns="0" tIns="0" rIns="0" bIns="0" anchor="t" anchorCtr="0">
            <a:spAutoFit/>
          </a:bodyPr>
          <a:lstStyle/>
          <a:p>
            <a:pPr marL="0" marR="0" lvl="0" indent="0" algn="l" rtl="0">
              <a:lnSpc>
                <a:spcPct val="119958"/>
              </a:lnSpc>
              <a:spcBef>
                <a:spcPts val="0"/>
              </a:spcBef>
              <a:spcAft>
                <a:spcPts val="0"/>
              </a:spcAft>
              <a:buNone/>
            </a:pPr>
            <a:r>
              <a:rPr lang="en-US" sz="2400" b="1" i="0" u="none" strike="noStrike" cap="none">
                <a:solidFill>
                  <a:srgbClr val="003366"/>
                </a:solidFill>
                <a:latin typeface="Arimo"/>
                <a:ea typeface="Arimo"/>
                <a:cs typeface="Arimo"/>
                <a:sym typeface="Arimo"/>
              </a:rPr>
              <a:t>Famous personality who came from Hayes and Harlington</a:t>
            </a:r>
            <a:endParaRPr/>
          </a:p>
        </p:txBody>
      </p:sp>
      <p:sp>
        <p:nvSpPr>
          <p:cNvPr id="122" name="Google Shape;122;p17"/>
          <p:cNvSpPr/>
          <p:nvPr/>
        </p:nvSpPr>
        <p:spPr>
          <a:xfrm>
            <a:off x="666750" y="984795"/>
            <a:ext cx="10858500" cy="2857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4" name="Google Shape;124;p17"/>
          <p:cNvSpPr txBox="1"/>
          <p:nvPr/>
        </p:nvSpPr>
        <p:spPr>
          <a:xfrm>
            <a:off x="617904" y="1108620"/>
            <a:ext cx="10858500" cy="60324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b="0" i="0" u="none" strike="noStrike" cap="none" dirty="0">
                <a:solidFill>
                  <a:srgbClr val="111111"/>
                </a:solidFill>
                <a:latin typeface="Arimo"/>
                <a:ea typeface="Arimo"/>
                <a:cs typeface="Arimo"/>
                <a:sym typeface="Arimo"/>
              </a:rPr>
              <a:t>Famous people from history who lived in Hayes include William Byrd, a very important English music composer from the early modern period, and George Orwell, a well-known writer from the 20th century.</a:t>
            </a:r>
            <a:endParaRPr lang="en-US"/>
          </a:p>
        </p:txBody>
      </p:sp>
      <p:sp>
        <p:nvSpPr>
          <p:cNvPr id="125" name="Google Shape;125;p17"/>
          <p:cNvSpPr txBox="1"/>
          <p:nvPr/>
        </p:nvSpPr>
        <p:spPr>
          <a:xfrm>
            <a:off x="617904" y="1839153"/>
            <a:ext cx="10858500" cy="90486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b="0" i="0" u="none" strike="noStrike" cap="none" dirty="0">
                <a:solidFill>
                  <a:srgbClr val="111111"/>
                </a:solidFill>
                <a:latin typeface="Arimo"/>
                <a:ea typeface="Arimo"/>
                <a:cs typeface="Arimo"/>
                <a:sym typeface="Arimo"/>
              </a:rPr>
              <a:t>One of the most important English authors of the 20th century, born Eric Arthur Blair (1903-1950), is best known for Animal Farm (1945) and Nineteen Eighty-Four (1949). His writing is well known for its devotion to democratic socialism, opposition to tyranny, and biting social criticism.</a:t>
            </a:r>
            <a:endParaRPr lang="en-US"/>
          </a:p>
        </p:txBody>
      </p:sp>
      <p:sp>
        <p:nvSpPr>
          <p:cNvPr id="126" name="Google Shape;126;p17"/>
          <p:cNvSpPr txBox="1"/>
          <p:nvPr/>
        </p:nvSpPr>
        <p:spPr>
          <a:xfrm>
            <a:off x="617904" y="2892069"/>
            <a:ext cx="10858500" cy="90486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b="0" i="0" u="none" strike="noStrike" cap="none" dirty="0">
                <a:solidFill>
                  <a:srgbClr val="111111"/>
                </a:solidFill>
                <a:latin typeface="Arimo"/>
                <a:ea typeface="Arimo"/>
                <a:cs typeface="Arimo"/>
                <a:sym typeface="Arimo"/>
              </a:rPr>
              <a:t>Hayes, where Orwell resided and worked in the early 1930s, is directly related to him historically. He worked as a teacher at The Hawthorns High School, a small private boys' school in Hayes, west London, in 1932. The school served a small student body at the time and represented the modest, suburban nature of the neighborhood.</a:t>
            </a:r>
            <a:endParaRPr dirty="0"/>
          </a:p>
        </p:txBody>
      </p:sp>
      <p:sp>
        <p:nvSpPr>
          <p:cNvPr id="127" name="Google Shape;127;p17"/>
          <p:cNvSpPr txBox="1"/>
          <p:nvPr/>
        </p:nvSpPr>
        <p:spPr>
          <a:xfrm>
            <a:off x="617904" y="3917652"/>
            <a:ext cx="10858500" cy="301621"/>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b="0" i="0" u="none" strike="noStrike" cap="none" dirty="0">
                <a:solidFill>
                  <a:srgbClr val="111111"/>
                </a:solidFill>
                <a:latin typeface="Arimo"/>
                <a:ea typeface="Arimo"/>
                <a:cs typeface="Arimo"/>
                <a:sym typeface="Arimo"/>
              </a:rPr>
              <a:t>Hayes, where Orwell resided and worked in the early 1930s, is directly related to him historically.</a:t>
            </a:r>
            <a:endParaRPr dirty="0"/>
          </a:p>
        </p:txBody>
      </p:sp>
      <p:sp>
        <p:nvSpPr>
          <p:cNvPr id="128" name="Google Shape;128;p17"/>
          <p:cNvSpPr txBox="1"/>
          <p:nvPr/>
        </p:nvSpPr>
        <p:spPr>
          <a:xfrm>
            <a:off x="617904" y="4314057"/>
            <a:ext cx="10858500" cy="60324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b="0" i="0" u="none" strike="noStrike" cap="none" dirty="0">
                <a:solidFill>
                  <a:srgbClr val="111111"/>
                </a:solidFill>
                <a:latin typeface="Arimo"/>
                <a:ea typeface="Arimo"/>
                <a:cs typeface="Arimo"/>
                <a:sym typeface="Arimo"/>
              </a:rPr>
              <a:t>He worked as a teacher at The Hawthorns High School, a small private boys' school in Hayes, west London, in 1932. The school served a small student body at the time and represented the modest, suburban nature of the neighborhood.</a:t>
            </a:r>
            <a:endParaRPr dirty="0"/>
          </a:p>
        </p:txBody>
      </p:sp>
      <p:sp>
        <p:nvSpPr>
          <p:cNvPr id="129" name="Google Shape;129;p17"/>
          <p:cNvSpPr txBox="1"/>
          <p:nvPr/>
        </p:nvSpPr>
        <p:spPr>
          <a:xfrm>
            <a:off x="617904" y="4995744"/>
            <a:ext cx="10858500" cy="120648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b="0" i="0" u="none" strike="noStrike" cap="none" dirty="0">
                <a:solidFill>
                  <a:srgbClr val="111111"/>
                </a:solidFill>
                <a:latin typeface="Arimo"/>
                <a:ea typeface="Arimo"/>
                <a:cs typeface="Arimo"/>
                <a:sym typeface="Arimo"/>
              </a:rPr>
              <a:t>Orwell's intellectual growth was significantly influenced by this time in Hayes' life. He was already intensely involved in issues of power, social injustice, and class inequality while teaching-themes that would later dominate his writing. Novels like A Clergyman's Daughter and his more general critique of social hierarchies in England were influenced by his experiences as a teacher as well as his exposure to everyday working-class and lower-middle-class life in west London.</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3"/>
        <p:cNvGrpSpPr/>
        <p:nvPr/>
      </p:nvGrpSpPr>
      <p:grpSpPr>
        <a:xfrm>
          <a:off x="0" y="0"/>
          <a:ext cx="0" cy="0"/>
          <a:chOff x="0" y="0"/>
          <a:chExt cx="0" cy="0"/>
        </a:xfrm>
      </p:grpSpPr>
      <p:sp>
        <p:nvSpPr>
          <p:cNvPr id="134" name="Google Shape;134;p18"/>
          <p:cNvSpPr txBox="1"/>
          <p:nvPr/>
        </p:nvSpPr>
        <p:spPr>
          <a:xfrm>
            <a:off x="666750" y="476250"/>
            <a:ext cx="11401425" cy="63996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1" i="0" u="none" strike="noStrike" cap="none">
                <a:solidFill>
                  <a:srgbClr val="003366"/>
                </a:solidFill>
                <a:latin typeface="Arimo"/>
                <a:ea typeface="Arimo"/>
                <a:cs typeface="Arimo"/>
                <a:sym typeface="Arimo"/>
              </a:rPr>
              <a:t>Hayes and Harlington Urban District: This was a local authority that existed from 1930 to 1965</a:t>
            </a:r>
            <a:endParaRPr/>
          </a:p>
        </p:txBody>
      </p:sp>
      <p:sp>
        <p:nvSpPr>
          <p:cNvPr id="136" name="Google Shape;136;p18"/>
          <p:cNvSpPr txBox="1"/>
          <p:nvPr/>
        </p:nvSpPr>
        <p:spPr>
          <a:xfrm>
            <a:off x="666750" y="1235883"/>
            <a:ext cx="10858500" cy="29706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950" b="1" i="0" u="none" strike="noStrike" cap="none">
                <a:solidFill>
                  <a:srgbClr val="003366"/>
                </a:solidFill>
                <a:latin typeface="Arimo"/>
                <a:ea typeface="Arimo"/>
                <a:cs typeface="Arimo"/>
                <a:sym typeface="Arimo"/>
              </a:rPr>
              <a:t>Hayes &amp; Harlington locality</a:t>
            </a:r>
            <a:endParaRPr/>
          </a:p>
        </p:txBody>
      </p:sp>
      <p:sp>
        <p:nvSpPr>
          <p:cNvPr id="137" name="Google Shape;137;p18"/>
          <p:cNvSpPr txBox="1"/>
          <p:nvPr/>
        </p:nvSpPr>
        <p:spPr>
          <a:xfrm>
            <a:off x="666750" y="1712660"/>
            <a:ext cx="10858500" cy="11430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Hayes &amp; Harlington locality lies in the south of Hillingdon and is made up of seven wards. It is bordered by London boroughs of Hounslow, Ealing, Slough, and Spelthorne. In 2017, the locality population is 106,692 residents, an increase of 10,929 (11.4%) since 2011 (95,763); this is higher than the 10.9% increase for Hillingdon overall. The locality is made up of 4,156.3 hectares (41.6 kmsq), with 25.7 people per hectare (2,567 per kmsq). The average number of people per household is 3.03.</a:t>
            </a:r>
            <a:endParaRPr/>
          </a:p>
        </p:txBody>
      </p:sp>
      <p:sp>
        <p:nvSpPr>
          <p:cNvPr id="138" name="Google Shape;138;p18"/>
          <p:cNvSpPr txBox="1"/>
          <p:nvPr/>
        </p:nvSpPr>
        <p:spPr>
          <a:xfrm>
            <a:off x="666750" y="3347991"/>
            <a:ext cx="10858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The data shows that 25.2% of Hayes &amp; Harlington residents are under the age of 16. 70.7% of residents fall into the working age bracket (defined as a resident aged between 16 and 74) and the remaining 4.1% are over the age of 75.</a:t>
            </a:r>
            <a:endParaRPr/>
          </a:p>
        </p:txBody>
      </p:sp>
      <p:sp>
        <p:nvSpPr>
          <p:cNvPr id="139" name="Google Shape;139;p18"/>
          <p:cNvSpPr txBox="1"/>
          <p:nvPr/>
        </p:nvSpPr>
        <p:spPr>
          <a:xfrm>
            <a:off x="666750" y="4323899"/>
            <a:ext cx="10858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B91C1C"/>
                </a:solidFill>
                <a:latin typeface="Arimo"/>
                <a:ea typeface="Arimo"/>
                <a:cs typeface="Arimo"/>
                <a:sym typeface="Arimo"/>
              </a:rPr>
              <a:t>Religion -</a:t>
            </a:r>
            <a:r>
              <a:rPr lang="en-US" sz="1500" b="0" i="0" u="none" strike="noStrike" cap="none">
                <a:solidFill>
                  <a:srgbClr val="111111"/>
                </a:solidFill>
                <a:latin typeface="Arimo"/>
                <a:ea typeface="Arimo"/>
                <a:cs typeface="Arimo"/>
                <a:sym typeface="Arimo"/>
              </a:rPr>
              <a:t> Christianity is the predominant religion in the locality with 38.3% from this faith. 11.3% are Hindu, 17.6% are Muslim, 14.1% are Sikh, and 11.2% have no religion. 5.9% chose not to state a religion (the question was voluntary).</a:t>
            </a:r>
            <a:endParaRPr/>
          </a:p>
        </p:txBody>
      </p:sp>
      <p:sp>
        <p:nvSpPr>
          <p:cNvPr id="140" name="Google Shape;140;p18"/>
          <p:cNvSpPr txBox="1"/>
          <p:nvPr/>
        </p:nvSpPr>
        <p:spPr>
          <a:xfrm>
            <a:off x="666750" y="5231423"/>
            <a:ext cx="10858500" cy="8572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B91C1C"/>
                </a:solidFill>
                <a:latin typeface="Arimo"/>
                <a:ea typeface="Arimo"/>
                <a:cs typeface="Arimo"/>
                <a:sym typeface="Arimo"/>
              </a:rPr>
              <a:t>Economic Data -</a:t>
            </a:r>
            <a:r>
              <a:rPr lang="en-US" sz="1500" b="0" i="0" u="none" strike="noStrike" cap="none">
                <a:solidFill>
                  <a:srgbClr val="111111"/>
                </a:solidFill>
                <a:latin typeface="Arimo"/>
                <a:ea typeface="Arimo"/>
                <a:cs typeface="Arimo"/>
                <a:sym typeface="Arimo"/>
              </a:rPr>
              <a:t> (statistics are for the age 16-74 group) In Hayes &amp; Harlington, 70.1% of residents of working age are economically active. The table below provides a breakdown of economic activity in the locality when compared with Hillingdon and England</a:t>
            </a:r>
            <a:endParaRPr/>
          </a:p>
        </p:txBody>
      </p:sp>
      <p:sp>
        <p:nvSpPr>
          <p:cNvPr id="3" name="Google Shape;122;p17">
            <a:extLst>
              <a:ext uri="{FF2B5EF4-FFF2-40B4-BE49-F238E27FC236}">
                <a16:creationId xmlns:a16="http://schemas.microsoft.com/office/drawing/2014/main" id="{BC8F5C9A-A052-65A6-B2E7-213B7EB53B32}"/>
              </a:ext>
            </a:extLst>
          </p:cNvPr>
          <p:cNvSpPr/>
          <p:nvPr/>
        </p:nvSpPr>
        <p:spPr>
          <a:xfrm>
            <a:off x="666750" y="984795"/>
            <a:ext cx="10858500" cy="2857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4"/>
        <p:cNvGrpSpPr/>
        <p:nvPr/>
      </p:nvGrpSpPr>
      <p:grpSpPr>
        <a:xfrm>
          <a:off x="0" y="0"/>
          <a:ext cx="0" cy="0"/>
          <a:chOff x="0" y="0"/>
          <a:chExt cx="0" cy="0"/>
        </a:xfrm>
      </p:grpSpPr>
      <p:sp>
        <p:nvSpPr>
          <p:cNvPr id="145" name="Google Shape;145;p19"/>
          <p:cNvSpPr txBox="1"/>
          <p:nvPr/>
        </p:nvSpPr>
        <p:spPr>
          <a:xfrm>
            <a:off x="666750" y="476250"/>
            <a:ext cx="11401425" cy="43428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003366"/>
                </a:solidFill>
                <a:latin typeface="Arimo"/>
                <a:ea typeface="Arimo"/>
                <a:cs typeface="Arimo"/>
                <a:sym typeface="Arimo"/>
              </a:rPr>
              <a:t>ELIZABETH LINE (how it came into effect)</a:t>
            </a:r>
            <a:endParaRPr/>
          </a:p>
        </p:txBody>
      </p:sp>
      <p:sp>
        <p:nvSpPr>
          <p:cNvPr id="147" name="Google Shape;147;p19"/>
          <p:cNvSpPr txBox="1"/>
          <p:nvPr/>
        </p:nvSpPr>
        <p:spPr>
          <a:xfrm>
            <a:off x="666750" y="1148655"/>
            <a:ext cx="10858500" cy="27429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800" b="1" i="0" u="none" strike="noStrike" cap="none">
                <a:solidFill>
                  <a:srgbClr val="003366"/>
                </a:solidFill>
                <a:latin typeface="Arimo"/>
                <a:ea typeface="Arimo"/>
                <a:cs typeface="Arimo"/>
                <a:sym typeface="Arimo"/>
              </a:rPr>
              <a:t>Name and identity</a:t>
            </a:r>
            <a:endParaRPr/>
          </a:p>
        </p:txBody>
      </p:sp>
      <p:sp>
        <p:nvSpPr>
          <p:cNvPr id="148" name="Google Shape;148;p19"/>
          <p:cNvSpPr txBox="1"/>
          <p:nvPr/>
        </p:nvSpPr>
        <p:spPr>
          <a:xfrm>
            <a:off x="666750" y="1422945"/>
            <a:ext cx="10858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Crossrail is the name of the construction project and of the limited company wholly owned by TFL that was formed to carry out construction works.</a:t>
            </a:r>
            <a:endParaRPr/>
          </a:p>
        </p:txBody>
      </p:sp>
      <p:sp>
        <p:nvSpPr>
          <p:cNvPr id="149" name="Google Shape;149;p19"/>
          <p:cNvSpPr txBox="1"/>
          <p:nvPr/>
        </p:nvSpPr>
        <p:spPr>
          <a:xfrm>
            <a:off x="666750" y="2131214"/>
            <a:ext cx="10858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The "Elizabeth line" is the name of the new service that is on signage throughout the stations. It is named in honour of Queen elizabeth II. ".</a:t>
            </a:r>
            <a:endParaRPr/>
          </a:p>
        </p:txBody>
      </p:sp>
      <p:sp>
        <p:nvSpPr>
          <p:cNvPr id="150" name="Google Shape;150;p19"/>
          <p:cNvSpPr txBox="1"/>
          <p:nvPr/>
        </p:nvSpPr>
        <p:spPr>
          <a:xfrm>
            <a:off x="666750" y="2948880"/>
            <a:ext cx="10858500" cy="8572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Hayes &amp; Harlington railway station opened in 1868, making it even easier for businesses to set up here. Until the late 1800s, most people in Hayes worked in farming or making bricks. But then, the Second Industrial Revolution brought big changes. Hayes was a great spot for factories because it was on the Grand Union Canal and the Great Western Railway.</a:t>
            </a:r>
            <a:endParaRPr/>
          </a:p>
        </p:txBody>
      </p:sp>
      <p:sp>
        <p:nvSpPr>
          <p:cNvPr id="151" name="Google Shape;151;p19"/>
          <p:cNvSpPr txBox="1"/>
          <p:nvPr/>
        </p:nvSpPr>
        <p:spPr>
          <a:xfrm>
            <a:off x="666750" y="4189065"/>
            <a:ext cx="108585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The Hayes &amp; Harlington railway station opened in 1868, making it even easier for businesses to set up here.</a:t>
            </a:r>
            <a:endParaRPr/>
          </a:p>
        </p:txBody>
      </p:sp>
      <p:sp>
        <p:nvSpPr>
          <p:cNvPr id="152" name="Google Shape;152;p19"/>
          <p:cNvSpPr txBox="1"/>
          <p:nvPr/>
        </p:nvSpPr>
        <p:spPr>
          <a:xfrm>
            <a:off x="666750" y="4623288"/>
            <a:ext cx="10858500" cy="8572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The nearby London Heathrow Airport provides many jobs in Hayes. Its presence also helps many other businesses, like shops, international delivery services, and hotels. The Sheraton Hotel on Bath Road, for example, benefits from being so close to the airport.</a:t>
            </a:r>
            <a:endParaRPr/>
          </a:p>
        </p:txBody>
      </p:sp>
      <p:sp>
        <p:nvSpPr>
          <p:cNvPr id="153" name="Google Shape;153;p19"/>
          <p:cNvSpPr txBox="1"/>
          <p:nvPr/>
        </p:nvSpPr>
        <p:spPr>
          <a:xfrm>
            <a:off x="666750" y="5715000"/>
            <a:ext cx="10858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Lombardy Shopping Park is a big shopping area in Hayes. It has many stores, including Next, Sports Direct, H&amp;M, and Sainsbury's. There's also Hayes Bridge Retail Park with stores like Currys PC World.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7"/>
        <p:cNvGrpSpPr/>
        <p:nvPr/>
      </p:nvGrpSpPr>
      <p:grpSpPr>
        <a:xfrm>
          <a:off x="0" y="0"/>
          <a:ext cx="0" cy="0"/>
          <a:chOff x="0" y="0"/>
          <a:chExt cx="0" cy="0"/>
        </a:xfrm>
      </p:grpSpPr>
      <p:sp>
        <p:nvSpPr>
          <p:cNvPr id="159" name="Google Shape;159;p20"/>
          <p:cNvSpPr txBox="1"/>
          <p:nvPr/>
        </p:nvSpPr>
        <p:spPr>
          <a:xfrm>
            <a:off x="666750" y="476250"/>
            <a:ext cx="108585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003366"/>
                </a:solidFill>
                <a:latin typeface="Arimo"/>
                <a:ea typeface="Arimo"/>
                <a:cs typeface="Arimo"/>
                <a:sym typeface="Arimo"/>
              </a:rPr>
              <a:t>Support for existing industries:</a:t>
            </a:r>
            <a:endParaRPr/>
          </a:p>
        </p:txBody>
      </p:sp>
      <p:sp>
        <p:nvSpPr>
          <p:cNvPr id="160" name="Google Shape;160;p20"/>
          <p:cNvSpPr txBox="1"/>
          <p:nvPr/>
        </p:nvSpPr>
        <p:spPr>
          <a:xfrm>
            <a:off x="666750" y="762000"/>
            <a:ext cx="10858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•The improved infrastructure has also supported existing local employers, such as West London Film Studios and Heinz, which have helped to provide local job opportunities.</a:t>
            </a:r>
            <a:endParaRPr/>
          </a:p>
        </p:txBody>
      </p:sp>
      <p:sp>
        <p:nvSpPr>
          <p:cNvPr id="161" name="Google Shape;161;p20"/>
          <p:cNvSpPr txBox="1"/>
          <p:nvPr/>
        </p:nvSpPr>
        <p:spPr>
          <a:xfrm>
            <a:off x="666750" y="1333500"/>
            <a:ext cx="10858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•Many new companies have set up in hayes and Harlington after the Elizbeth line such as companies like Sonos, GoDaddy, and SITA, which have recently located or expanded their operations in Hayes, creating new jobs.</a:t>
            </a:r>
            <a:endParaRPr/>
          </a:p>
        </p:txBody>
      </p:sp>
      <p:sp>
        <p:nvSpPr>
          <p:cNvPr id="162" name="Google Shape;162;p20"/>
          <p:cNvSpPr txBox="1"/>
          <p:nvPr/>
        </p:nvSpPr>
        <p:spPr>
          <a:xfrm>
            <a:off x="666750" y="1905000"/>
            <a:ext cx="10858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•During the construction phase of the project, the Elizabeth line created thousands of jobs, with Transport for London (TfL) estimating over 400,000 jobs in and around London</a:t>
            </a:r>
            <a:endParaRPr/>
          </a:p>
        </p:txBody>
      </p:sp>
      <p:sp>
        <p:nvSpPr>
          <p:cNvPr id="163" name="Google Shape;163;p20"/>
          <p:cNvSpPr txBox="1"/>
          <p:nvPr/>
        </p:nvSpPr>
        <p:spPr>
          <a:xfrm>
            <a:off x="666750" y="2845288"/>
            <a:ext cx="108585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003366"/>
                </a:solidFill>
                <a:latin typeface="Arimo"/>
                <a:ea typeface="Arimo"/>
                <a:cs typeface="Arimo"/>
                <a:sym typeface="Arimo"/>
              </a:rPr>
              <a:t>Real Estate &amp; Local Services</a:t>
            </a:r>
            <a:endParaRPr/>
          </a:p>
        </p:txBody>
      </p:sp>
      <p:sp>
        <p:nvSpPr>
          <p:cNvPr id="164" name="Google Shape;164;p20"/>
          <p:cNvSpPr txBox="1"/>
          <p:nvPr/>
        </p:nvSpPr>
        <p:spPr>
          <a:xfrm>
            <a:off x="666750" y="3238500"/>
            <a:ext cx="108585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The line has made Hayes an attractive area for housing development, leading to new roles in:</a:t>
            </a:r>
            <a:endParaRPr/>
          </a:p>
        </p:txBody>
      </p:sp>
      <p:sp>
        <p:nvSpPr>
          <p:cNvPr id="165" name="Google Shape;165;p20"/>
          <p:cNvSpPr txBox="1"/>
          <p:nvPr/>
        </p:nvSpPr>
        <p:spPr>
          <a:xfrm>
            <a:off x="666750" y="3524250"/>
            <a:ext cx="108585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Real estate and property management.</a:t>
            </a:r>
            <a:endParaRPr/>
          </a:p>
        </p:txBody>
      </p:sp>
      <p:sp>
        <p:nvSpPr>
          <p:cNvPr id="166" name="Google Shape;166;p20"/>
          <p:cNvSpPr txBox="1"/>
          <p:nvPr/>
        </p:nvSpPr>
        <p:spPr>
          <a:xfrm>
            <a:off x="666750" y="3810000"/>
            <a:ext cx="108585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Facility management and community services.</a:t>
            </a:r>
            <a:endParaRPr/>
          </a:p>
        </p:txBody>
      </p:sp>
      <p:sp>
        <p:nvSpPr>
          <p:cNvPr id="167" name="Google Shape;167;p20"/>
          <p:cNvSpPr txBox="1"/>
          <p:nvPr/>
        </p:nvSpPr>
        <p:spPr>
          <a:xfrm>
            <a:off x="666750" y="4095750"/>
            <a:ext cx="108585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Education and health services to support the growing population.</a:t>
            </a:r>
            <a:endParaRPr/>
          </a:p>
        </p:txBody>
      </p:sp>
      <p:sp>
        <p:nvSpPr>
          <p:cNvPr id="168" name="Google Shape;168;p20"/>
          <p:cNvSpPr txBox="1"/>
          <p:nvPr/>
        </p:nvSpPr>
        <p:spPr>
          <a:xfrm>
            <a:off x="666750" y="4381500"/>
            <a:ext cx="108585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This ripple effect is expected to strengthen the local economy over the next decade.</a:t>
            </a:r>
            <a:endParaRPr/>
          </a:p>
        </p:txBody>
      </p:sp>
      <p:sp>
        <p:nvSpPr>
          <p:cNvPr id="169" name="Google Shape;169;p20"/>
          <p:cNvSpPr txBox="1"/>
          <p:nvPr/>
        </p:nvSpPr>
        <p:spPr>
          <a:xfrm>
            <a:off x="666750" y="4938346"/>
            <a:ext cx="108585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•About 378,000 additional jobs were created between 2015 and 2022</a:t>
            </a:r>
            <a:endParaRPr/>
          </a:p>
        </p:txBody>
      </p:sp>
      <p:sp>
        <p:nvSpPr>
          <p:cNvPr id="170" name="Google Shape;170;p20"/>
          <p:cNvSpPr txBox="1"/>
          <p:nvPr/>
        </p:nvSpPr>
        <p:spPr>
          <a:xfrm>
            <a:off x="666750" y="5233865"/>
            <a:ext cx="108585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•About 378,000 additional jobs were created between 2015 and 2022, TfL added.</a:t>
            </a:r>
            <a:endParaRPr/>
          </a:p>
        </p:txBody>
      </p:sp>
      <p:sp>
        <p:nvSpPr>
          <p:cNvPr id="171" name="Google Shape;171;p20"/>
          <p:cNvSpPr txBox="1"/>
          <p:nvPr/>
        </p:nvSpPr>
        <p:spPr>
          <a:xfrm>
            <a:off x="666750" y="5519615"/>
            <a:ext cx="1085850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•This area included the hayes hayes parish, which came from the Uxbridge rural district In 1930, the district grew bigger. It added the areas of Cranford and harlington Because of this, its name changed to "Hayes and Harlington".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5"/>
        <p:cNvGrpSpPr/>
        <p:nvPr/>
      </p:nvGrpSpPr>
      <p:grpSpPr>
        <a:xfrm>
          <a:off x="0" y="0"/>
          <a:ext cx="0" cy="0"/>
          <a:chOff x="0" y="0"/>
          <a:chExt cx="0" cy="0"/>
        </a:xfrm>
      </p:grpSpPr>
      <p:sp>
        <p:nvSpPr>
          <p:cNvPr id="177" name="Google Shape;177;p21"/>
          <p:cNvSpPr txBox="1"/>
          <p:nvPr/>
        </p:nvSpPr>
        <p:spPr>
          <a:xfrm>
            <a:off x="666750" y="476250"/>
            <a:ext cx="10858500" cy="90486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b="0" i="0" u="none" strike="noStrike" cap="none" dirty="0">
                <a:solidFill>
                  <a:srgbClr val="111111"/>
                </a:solidFill>
                <a:latin typeface="Arimo"/>
                <a:ea typeface="Arimo"/>
                <a:cs typeface="Arimo"/>
                <a:sym typeface="Arimo"/>
              </a:rPr>
              <a:t>Property prices in all parts of London, especially those in Hayes and Harlington, have been significantly impacted by the Elizabeth Line's arrival. Previously less central sites are now more appealing to commuters, investors, and developers due to improved transportation connectivity.</a:t>
            </a:r>
            <a:endParaRPr dirty="0"/>
          </a:p>
        </p:txBody>
      </p:sp>
      <p:sp>
        <p:nvSpPr>
          <p:cNvPr id="178" name="Google Shape;178;p21"/>
          <p:cNvSpPr txBox="1"/>
          <p:nvPr/>
        </p:nvSpPr>
        <p:spPr>
          <a:xfrm>
            <a:off x="666750" y="1372859"/>
            <a:ext cx="10858500" cy="120648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b="0" i="0" u="none" strike="noStrike" cap="none" dirty="0">
                <a:solidFill>
                  <a:srgbClr val="111111"/>
                </a:solidFill>
                <a:latin typeface="Arimo"/>
                <a:ea typeface="Arimo"/>
                <a:cs typeface="Arimo"/>
                <a:sym typeface="Arimo"/>
              </a:rPr>
              <a:t>Benham and Reeves, an independent rental and sales agency that is still in business today, found that postcodes with a </a:t>
            </a:r>
            <a:r>
              <a:rPr lang="en-US" b="0" i="0" u="none" strike="noStrike" cap="none" dirty="0" err="1">
                <a:solidFill>
                  <a:srgbClr val="111111"/>
                </a:solidFill>
                <a:latin typeface="Arimo"/>
                <a:ea typeface="Arimo"/>
                <a:cs typeface="Arimo"/>
                <a:sym typeface="Arimo"/>
              </a:rPr>
              <a:t>Crossrail</a:t>
            </a:r>
            <a:r>
              <a:rPr lang="en-US" b="0" i="0" u="none" strike="noStrike" cap="none" dirty="0">
                <a:solidFill>
                  <a:srgbClr val="111111"/>
                </a:solidFill>
                <a:latin typeface="Arimo"/>
                <a:ea typeface="Arimo"/>
                <a:cs typeface="Arimo"/>
                <a:sym typeface="Arimo"/>
              </a:rPr>
              <a:t> (Elizabeth Line) station had much greater increases in home prices than nearby locations. According to the study, postcodes with a </a:t>
            </a:r>
            <a:r>
              <a:rPr lang="en-US" b="0" i="0" u="none" strike="noStrike" cap="none" dirty="0" err="1">
                <a:solidFill>
                  <a:srgbClr val="111111"/>
                </a:solidFill>
                <a:latin typeface="Arimo"/>
                <a:ea typeface="Arimo"/>
                <a:cs typeface="Arimo"/>
                <a:sym typeface="Arimo"/>
              </a:rPr>
              <a:t>Crossrail</a:t>
            </a:r>
            <a:r>
              <a:rPr lang="en-US" b="0" i="0" u="none" strike="noStrike" cap="none" dirty="0">
                <a:solidFill>
                  <a:srgbClr val="111111"/>
                </a:solidFill>
                <a:latin typeface="Arimo"/>
                <a:ea typeface="Arimo"/>
                <a:cs typeface="Arimo"/>
                <a:sym typeface="Arimo"/>
              </a:rPr>
              <a:t> station saw an average increase in house prices of 79%, which was 14% more than those in surrounding areas without direct access to the route</a:t>
            </a:r>
            <a:r>
              <a:rPr lang="en-US" sz="1250" b="0" i="0" u="none" strike="noStrike" cap="none" dirty="0">
                <a:solidFill>
                  <a:srgbClr val="111111"/>
                </a:solidFill>
                <a:latin typeface="Arimo"/>
                <a:ea typeface="Arimo"/>
                <a:cs typeface="Arimo"/>
                <a:sym typeface="Arimo"/>
              </a:rPr>
              <a:t>.</a:t>
            </a:r>
            <a:endParaRPr sz="1250" dirty="0"/>
          </a:p>
        </p:txBody>
      </p:sp>
      <p:sp>
        <p:nvSpPr>
          <p:cNvPr id="179" name="Google Shape;179;p21"/>
          <p:cNvSpPr txBox="1"/>
          <p:nvPr/>
        </p:nvSpPr>
        <p:spPr>
          <a:xfrm>
            <a:off x="666750" y="2584056"/>
            <a:ext cx="10858500" cy="120648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b="0" i="0" u="none" strike="noStrike" cap="none" dirty="0">
                <a:solidFill>
                  <a:srgbClr val="111111"/>
                </a:solidFill>
                <a:latin typeface="Arimo"/>
                <a:ea typeface="Arimo"/>
                <a:cs typeface="Arimo"/>
                <a:sym typeface="Arimo"/>
              </a:rPr>
              <a:t>The effects have been considerably more striking in some places. For instance, since the announcement of </a:t>
            </a:r>
            <a:r>
              <a:rPr lang="en-US" b="0" i="0" u="none" strike="noStrike" cap="none" err="1">
                <a:solidFill>
                  <a:srgbClr val="111111"/>
                </a:solidFill>
                <a:latin typeface="Arimo"/>
                <a:ea typeface="Arimo"/>
                <a:cs typeface="Arimo"/>
                <a:sym typeface="Arimo"/>
              </a:rPr>
              <a:t>Crossrail</a:t>
            </a:r>
            <a:r>
              <a:rPr lang="en-US" b="0" i="0" u="none" strike="noStrike" cap="none" dirty="0">
                <a:solidFill>
                  <a:srgbClr val="111111"/>
                </a:solidFill>
                <a:latin typeface="Arimo"/>
                <a:ea typeface="Arimo"/>
                <a:cs typeface="Arimo"/>
                <a:sym typeface="Arimo"/>
              </a:rPr>
              <a:t>, home values in the W1 postcode, which is served by Tottenham Court Road and Bond Street stations, have increased by 215%. The average price rose from £725,603 in July 2008 to almost £2.3 million, demonstrating the robust correlation between long-term property value increases and significant transport investment.</a:t>
            </a:r>
            <a:endParaRPr dirty="0"/>
          </a:p>
        </p:txBody>
      </p:sp>
      <p:sp>
        <p:nvSpPr>
          <p:cNvPr id="180" name="Google Shape;180;p21"/>
          <p:cNvSpPr txBox="1"/>
          <p:nvPr/>
        </p:nvSpPr>
        <p:spPr>
          <a:xfrm>
            <a:off x="666750" y="3951561"/>
            <a:ext cx="10858500" cy="90486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b="0" i="0" u="none" strike="noStrike" cap="none" dirty="0">
                <a:solidFill>
                  <a:srgbClr val="111111"/>
                </a:solidFill>
                <a:latin typeface="Arimo"/>
                <a:ea typeface="Arimo"/>
                <a:cs typeface="Arimo"/>
                <a:sym typeface="Arimo"/>
              </a:rPr>
              <a:t>Significant improvements were also seen in areas outside of London that were connected by the Elizabeth Line. Following the unveiling of the project, prices in areas like Woolwich (128%), Goodmayes (116%), Seven Kings (116%), Romford (112%), </a:t>
            </a:r>
            <a:r>
              <a:rPr lang="en-US" b="0" i="0" u="none" strike="noStrike" cap="none" err="1">
                <a:solidFill>
                  <a:srgbClr val="111111"/>
                </a:solidFill>
                <a:latin typeface="Arimo"/>
                <a:ea typeface="Arimo"/>
                <a:cs typeface="Arimo"/>
                <a:sym typeface="Arimo"/>
              </a:rPr>
              <a:t>Twyford</a:t>
            </a:r>
            <a:r>
              <a:rPr lang="en-US" b="0" i="0" u="none" strike="noStrike" cap="none" dirty="0">
                <a:solidFill>
                  <a:srgbClr val="111111"/>
                </a:solidFill>
                <a:latin typeface="Arimo"/>
                <a:ea typeface="Arimo"/>
                <a:cs typeface="Arimo"/>
                <a:sym typeface="Arimo"/>
              </a:rPr>
              <a:t> (110%), Manor Park (103%), and Forest Gate (102%) increased by more than 100%.</a:t>
            </a:r>
            <a:endParaRPr dirty="0"/>
          </a:p>
        </p:txBody>
      </p:sp>
      <p:sp>
        <p:nvSpPr>
          <p:cNvPr id="181" name="Google Shape;181;p21"/>
          <p:cNvSpPr txBox="1"/>
          <p:nvPr/>
        </p:nvSpPr>
        <p:spPr>
          <a:xfrm>
            <a:off x="666750" y="5025990"/>
            <a:ext cx="10858500" cy="120648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b="0" i="0" u="none" strike="noStrike" cap="none" dirty="0">
                <a:solidFill>
                  <a:srgbClr val="111111"/>
                </a:solidFill>
                <a:latin typeface="Arimo"/>
                <a:ea typeface="Arimo"/>
                <a:cs typeface="Arimo"/>
                <a:sym typeface="Arimo"/>
              </a:rPr>
              <a:t>Despite not being one of the most valuable postcodes, Hayes and Harlington appears to have benefited from the same upward pressure on property demand due to easier access to central London, Heathrow Airport, and important employment hubs, according to estate agent data. Hayes and Harlington's transition from an industrial suburb to a strategically connected residential area has been reinforced by growing home prices, increased rental demand, and revived developer interest.</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5"/>
        <p:cNvGrpSpPr/>
        <p:nvPr/>
      </p:nvGrpSpPr>
      <p:grpSpPr>
        <a:xfrm>
          <a:off x="0" y="0"/>
          <a:ext cx="0" cy="0"/>
          <a:chOff x="0" y="0"/>
          <a:chExt cx="0" cy="0"/>
        </a:xfrm>
      </p:grpSpPr>
      <p:sp>
        <p:nvSpPr>
          <p:cNvPr id="187" name="Google Shape;187;p22"/>
          <p:cNvSpPr txBox="1"/>
          <p:nvPr/>
        </p:nvSpPr>
        <p:spPr>
          <a:xfrm>
            <a:off x="666750" y="606474"/>
            <a:ext cx="10858500" cy="50661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25" b="0" i="0" u="none" strike="noStrike" cap="none">
                <a:solidFill>
                  <a:srgbClr val="111111"/>
                </a:solidFill>
                <a:latin typeface="Arimo"/>
                <a:ea typeface="Arimo"/>
                <a:cs typeface="Arimo"/>
                <a:sym typeface="Arimo"/>
              </a:rPr>
              <a:t>Hayes and Harlington is a constituency in west London. Since 1997, it has been represented in the House of Commons by John McDonnell from the Labour Party. He was also the Shadow Chancellor of the Exchequer from 2015 to 2020.</a:t>
            </a:r>
            <a:endParaRPr/>
          </a:p>
        </p:txBody>
      </p:sp>
      <p:sp>
        <p:nvSpPr>
          <p:cNvPr id="188" name="Google Shape;188;p22"/>
          <p:cNvSpPr txBox="1"/>
          <p:nvPr/>
        </p:nvSpPr>
        <p:spPr>
          <a:xfrm>
            <a:off x="666750" y="1208335"/>
            <a:ext cx="10858500" cy="759916"/>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25" b="0" i="0" u="none" strike="noStrike" cap="none">
                <a:solidFill>
                  <a:srgbClr val="111111"/>
                </a:solidFill>
                <a:latin typeface="Arimo"/>
                <a:ea typeface="Arimo"/>
                <a:cs typeface="Arimo"/>
                <a:sym typeface="Arimo"/>
              </a:rPr>
              <a:t>The seat was created in 1950. In 2017, it was one of 49 London seats won or held by Labour out of 73. From 1983 to 1997, the seat was held by the Conservatives. Between 1981 and 1983, a member of the Social Democratic Party (SDP), who had defected, represented the seat. The SDP later merged into the Liberal Democrats. From 1950 to 1983, Labour candidates won the seat.</a:t>
            </a:r>
            <a:endParaRPr/>
          </a:p>
        </p:txBody>
      </p:sp>
      <p:sp>
        <p:nvSpPr>
          <p:cNvPr id="189" name="Google Shape;189;p22"/>
          <p:cNvSpPr txBox="1"/>
          <p:nvPr/>
        </p:nvSpPr>
        <p:spPr>
          <a:xfrm>
            <a:off x="666750" y="2479476"/>
            <a:ext cx="10858500" cy="346620"/>
          </a:xfrm>
          <a:prstGeom prst="rect">
            <a:avLst/>
          </a:prstGeom>
          <a:noFill/>
          <a:ln>
            <a:noFill/>
          </a:ln>
        </p:spPr>
        <p:txBody>
          <a:bodyPr spcFirstLastPara="1" wrap="square" lIns="0" tIns="0" rIns="0" bIns="0" anchor="t" anchorCtr="0">
            <a:spAutoFit/>
          </a:bodyPr>
          <a:lstStyle/>
          <a:p>
            <a:pPr marL="0" marR="0" lvl="0" indent="0" algn="l" rtl="0">
              <a:lnSpc>
                <a:spcPct val="139948"/>
              </a:lnSpc>
              <a:spcBef>
                <a:spcPts val="0"/>
              </a:spcBef>
              <a:spcAft>
                <a:spcPts val="0"/>
              </a:spcAft>
              <a:buNone/>
            </a:pPr>
            <a:r>
              <a:rPr lang="en-US" sz="1950" b="1" i="0" u="none" strike="noStrike" cap="none">
                <a:solidFill>
                  <a:srgbClr val="003366"/>
                </a:solidFill>
                <a:latin typeface="Arimo"/>
                <a:ea typeface="Arimo"/>
                <a:cs typeface="Arimo"/>
                <a:sym typeface="Arimo"/>
              </a:rPr>
              <a:t>Hayes and Harlington's Political History and Representation</a:t>
            </a:r>
            <a:endParaRPr/>
          </a:p>
        </p:txBody>
      </p:sp>
      <p:sp>
        <p:nvSpPr>
          <p:cNvPr id="190" name="Google Shape;190;p22"/>
          <p:cNvSpPr txBox="1"/>
          <p:nvPr/>
        </p:nvSpPr>
        <p:spPr>
          <a:xfrm>
            <a:off x="666750" y="2921347"/>
            <a:ext cx="10858500" cy="759916"/>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25" b="0" i="0" u="none" strike="noStrike" cap="none">
                <a:solidFill>
                  <a:srgbClr val="111111"/>
                </a:solidFill>
                <a:latin typeface="Arimo"/>
                <a:ea typeface="Arimo"/>
                <a:cs typeface="Arimo"/>
                <a:sym typeface="Arimo"/>
              </a:rPr>
              <a:t>John McDonnell is one of the longest-serving MPs in west London, having represented Hayes and Harlington in Parliament since 1997. In an area experiencing significant economic and physical change, especially with the construction of Heathrow Airport and the introduction of the Elizabeth Line, his lengthy term has maintained political continuity.</a:t>
            </a:r>
            <a:endParaRPr/>
          </a:p>
        </p:txBody>
      </p:sp>
      <p:sp>
        <p:nvSpPr>
          <p:cNvPr id="191" name="Google Shape;191;p22"/>
          <p:cNvSpPr txBox="1"/>
          <p:nvPr/>
        </p:nvSpPr>
        <p:spPr>
          <a:xfrm>
            <a:off x="666750" y="4192488"/>
            <a:ext cx="10858500" cy="759916"/>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25" b="0" i="0" u="none" strike="noStrike" cap="none">
                <a:solidFill>
                  <a:srgbClr val="111111"/>
                </a:solidFill>
                <a:latin typeface="Arimo"/>
                <a:ea typeface="Arimo"/>
                <a:cs typeface="Arimo"/>
                <a:sym typeface="Arimo"/>
              </a:rPr>
              <a:t>McDonnell, a prominent member of the Labour Party's left, was Jeremy Corbyn's Shadow Chancellor of the Exchequer from 2015 until 2020. At the local level, he has been strongly linked to community-based advocacy, particularly opposition to the expansion of Heathrow Airport, which directly impacts Hayes people through environmental issues, housing displacement, and noise pollution.</a:t>
            </a:r>
            <a:endParaRPr/>
          </a:p>
        </p:txBody>
      </p:sp>
      <p:sp>
        <p:nvSpPr>
          <p:cNvPr id="192" name="Google Shape;192;p22"/>
          <p:cNvSpPr txBox="1"/>
          <p:nvPr/>
        </p:nvSpPr>
        <p:spPr>
          <a:xfrm>
            <a:off x="666750" y="5047654"/>
            <a:ext cx="10858500" cy="1013221"/>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425" b="0" i="0" u="none" strike="noStrike" cap="none">
                <a:solidFill>
                  <a:srgbClr val="111111"/>
                </a:solidFill>
                <a:latin typeface="Arimo"/>
                <a:ea typeface="Arimo"/>
                <a:cs typeface="Arimo"/>
                <a:sym typeface="Arimo"/>
              </a:rPr>
              <a:t>The constituency's working-class and ethnically varied population is reflected in McDonnell's strong ties to trade unions, public sector employees, and minority communities during his tenure as MP. He has backed initiatives for public transportation investment, affordable housing, and opposition to austerity measures-all of which are still very important problems for Hayes and Harlington today.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6"/>
        <p:cNvGrpSpPr/>
        <p:nvPr/>
      </p:nvGrpSpPr>
      <p:grpSpPr>
        <a:xfrm>
          <a:off x="0" y="0"/>
          <a:ext cx="0" cy="0"/>
          <a:chOff x="0" y="0"/>
          <a:chExt cx="0" cy="0"/>
        </a:xfrm>
      </p:grpSpPr>
      <p:sp>
        <p:nvSpPr>
          <p:cNvPr id="197" name="Google Shape;197;p23"/>
          <p:cNvSpPr txBox="1"/>
          <p:nvPr/>
        </p:nvSpPr>
        <p:spPr>
          <a:xfrm>
            <a:off x="666750" y="476250"/>
            <a:ext cx="11401425" cy="43428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003366"/>
                </a:solidFill>
                <a:latin typeface="Arimo"/>
                <a:ea typeface="Arimo"/>
                <a:cs typeface="Arimo"/>
                <a:sym typeface="Arimo"/>
              </a:rPr>
              <a:t>Reporter's Patch: Key Facts at a Glance</a:t>
            </a:r>
            <a:endParaRPr/>
          </a:p>
        </p:txBody>
      </p:sp>
      <p:sp>
        <p:nvSpPr>
          <p:cNvPr id="199" name="Google Shape;199;p23"/>
          <p:cNvSpPr txBox="1"/>
          <p:nvPr/>
        </p:nvSpPr>
        <p:spPr>
          <a:xfrm>
            <a:off x="666750" y="1243905"/>
            <a:ext cx="108585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a:t>
            </a:r>
            <a:r>
              <a:rPr lang="en-US" sz="1500" b="1" i="0" u="none" strike="noStrike" cap="none">
                <a:solidFill>
                  <a:srgbClr val="B91C1C"/>
                </a:solidFill>
                <a:latin typeface="Arimo"/>
                <a:ea typeface="Arimo"/>
                <a:cs typeface="Arimo"/>
                <a:sym typeface="Arimo"/>
              </a:rPr>
              <a:t>Constituency:</a:t>
            </a:r>
            <a:r>
              <a:rPr lang="en-US" sz="1500" b="0" i="0" u="none" strike="noStrike" cap="none">
                <a:solidFill>
                  <a:srgbClr val="111111"/>
                </a:solidFill>
                <a:latin typeface="Arimo"/>
                <a:ea typeface="Arimo"/>
                <a:cs typeface="Arimo"/>
                <a:sym typeface="Arimo"/>
              </a:rPr>
              <a:t> Hayes and Harlington (West London)</a:t>
            </a:r>
            <a:endParaRPr/>
          </a:p>
        </p:txBody>
      </p:sp>
      <p:sp>
        <p:nvSpPr>
          <p:cNvPr id="200" name="Google Shape;200;p23"/>
          <p:cNvSpPr txBox="1"/>
          <p:nvPr/>
        </p:nvSpPr>
        <p:spPr>
          <a:xfrm>
            <a:off x="666750" y="1529655"/>
            <a:ext cx="108585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a:t>
            </a:r>
            <a:r>
              <a:rPr lang="en-US" sz="1500" b="1" i="0" u="none" strike="noStrike" cap="none">
                <a:solidFill>
                  <a:srgbClr val="B91C1C"/>
                </a:solidFill>
                <a:latin typeface="Arimo"/>
                <a:ea typeface="Arimo"/>
                <a:cs typeface="Arimo"/>
                <a:sym typeface="Arimo"/>
              </a:rPr>
              <a:t>Borough:</a:t>
            </a:r>
            <a:r>
              <a:rPr lang="en-US" sz="1500" b="0" i="0" u="none" strike="noStrike" cap="none">
                <a:solidFill>
                  <a:srgbClr val="111111"/>
                </a:solidFill>
                <a:latin typeface="Arimo"/>
                <a:ea typeface="Arimo"/>
                <a:cs typeface="Arimo"/>
                <a:sym typeface="Arimo"/>
              </a:rPr>
              <a:t> London Borough of Hillingdon</a:t>
            </a:r>
            <a:endParaRPr/>
          </a:p>
        </p:txBody>
      </p:sp>
      <p:sp>
        <p:nvSpPr>
          <p:cNvPr id="201" name="Google Shape;201;p23"/>
          <p:cNvSpPr txBox="1"/>
          <p:nvPr/>
        </p:nvSpPr>
        <p:spPr>
          <a:xfrm>
            <a:off x="666750" y="1815405"/>
            <a:ext cx="108585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a:t>
            </a:r>
            <a:r>
              <a:rPr lang="en-US" sz="1500" b="1" i="0" u="none" strike="noStrike" cap="none">
                <a:solidFill>
                  <a:srgbClr val="B91C1C"/>
                </a:solidFill>
                <a:latin typeface="Arimo"/>
                <a:ea typeface="Arimo"/>
                <a:cs typeface="Arimo"/>
                <a:sym typeface="Arimo"/>
              </a:rPr>
              <a:t>Member of Parliament:</a:t>
            </a:r>
            <a:r>
              <a:rPr lang="en-US" sz="1500" b="0" i="0" u="none" strike="noStrike" cap="none">
                <a:solidFill>
                  <a:srgbClr val="111111"/>
                </a:solidFill>
                <a:latin typeface="Arimo"/>
                <a:ea typeface="Arimo"/>
                <a:cs typeface="Arimo"/>
                <a:sym typeface="Arimo"/>
              </a:rPr>
              <a:t> John McDonnell (Labour, in office since 1997)</a:t>
            </a:r>
            <a:endParaRPr/>
          </a:p>
        </p:txBody>
      </p:sp>
      <p:sp>
        <p:nvSpPr>
          <p:cNvPr id="202" name="Google Shape;202;p23"/>
          <p:cNvSpPr txBox="1"/>
          <p:nvPr/>
        </p:nvSpPr>
        <p:spPr>
          <a:xfrm>
            <a:off x="666750" y="2196405"/>
            <a:ext cx="108585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a:t>
            </a:r>
            <a:r>
              <a:rPr lang="en-US" sz="1500" b="1" i="0" u="none" strike="noStrike" cap="none">
                <a:solidFill>
                  <a:srgbClr val="B91C1C"/>
                </a:solidFill>
                <a:latin typeface="Arimo"/>
                <a:ea typeface="Arimo"/>
                <a:cs typeface="Arimo"/>
                <a:sym typeface="Arimo"/>
              </a:rPr>
              <a:t>Major Employers &amp; Economic Drivers:</a:t>
            </a:r>
            <a:endParaRPr/>
          </a:p>
        </p:txBody>
      </p:sp>
      <p:sp>
        <p:nvSpPr>
          <p:cNvPr id="203" name="Google Shape;203;p23"/>
          <p:cNvSpPr txBox="1"/>
          <p:nvPr/>
        </p:nvSpPr>
        <p:spPr>
          <a:xfrm>
            <a:off x="666750" y="2482155"/>
            <a:ext cx="108585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•London Heathrow Airport</a:t>
            </a:r>
            <a:endParaRPr/>
          </a:p>
        </p:txBody>
      </p:sp>
      <p:sp>
        <p:nvSpPr>
          <p:cNvPr id="204" name="Google Shape;204;p23"/>
          <p:cNvSpPr txBox="1"/>
          <p:nvPr/>
        </p:nvSpPr>
        <p:spPr>
          <a:xfrm>
            <a:off x="666750" y="2767905"/>
            <a:ext cx="108585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•West London Film Studios</a:t>
            </a:r>
            <a:endParaRPr/>
          </a:p>
        </p:txBody>
      </p:sp>
      <p:sp>
        <p:nvSpPr>
          <p:cNvPr id="205" name="Google Shape;205;p23"/>
          <p:cNvSpPr txBox="1"/>
          <p:nvPr/>
        </p:nvSpPr>
        <p:spPr>
          <a:xfrm>
            <a:off x="666750" y="3053655"/>
            <a:ext cx="108585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•Logistics, retail, hospitality, and technology firms</a:t>
            </a:r>
            <a:endParaRPr/>
          </a:p>
        </p:txBody>
      </p:sp>
      <p:sp>
        <p:nvSpPr>
          <p:cNvPr id="206" name="Google Shape;206;p23"/>
          <p:cNvSpPr txBox="1"/>
          <p:nvPr/>
        </p:nvSpPr>
        <p:spPr>
          <a:xfrm>
            <a:off x="666750" y="3434655"/>
            <a:ext cx="108585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a:t>
            </a:r>
            <a:r>
              <a:rPr lang="en-US" sz="1500" b="1" i="0" u="none" strike="noStrike" cap="none">
                <a:solidFill>
                  <a:srgbClr val="B91C1C"/>
                </a:solidFill>
                <a:latin typeface="Arimo"/>
                <a:ea typeface="Arimo"/>
                <a:cs typeface="Arimo"/>
                <a:sym typeface="Arimo"/>
              </a:rPr>
              <a:t>Transport Links:</a:t>
            </a:r>
            <a:endParaRPr/>
          </a:p>
        </p:txBody>
      </p:sp>
      <p:sp>
        <p:nvSpPr>
          <p:cNvPr id="207" name="Google Shape;207;p23"/>
          <p:cNvSpPr txBox="1"/>
          <p:nvPr/>
        </p:nvSpPr>
        <p:spPr>
          <a:xfrm>
            <a:off x="666750" y="3720405"/>
            <a:ext cx="108585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•Elizabeth Line (formerly Crossrail)</a:t>
            </a:r>
            <a:endParaRPr/>
          </a:p>
        </p:txBody>
      </p:sp>
      <p:sp>
        <p:nvSpPr>
          <p:cNvPr id="208" name="Google Shape;208;p23"/>
          <p:cNvSpPr txBox="1"/>
          <p:nvPr/>
        </p:nvSpPr>
        <p:spPr>
          <a:xfrm>
            <a:off x="666750" y="4006155"/>
            <a:ext cx="108585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•Great Western Railway (GWR)</a:t>
            </a:r>
            <a:endParaRPr/>
          </a:p>
        </p:txBody>
      </p:sp>
      <p:sp>
        <p:nvSpPr>
          <p:cNvPr id="209" name="Google Shape;209;p23"/>
          <p:cNvSpPr txBox="1"/>
          <p:nvPr/>
        </p:nvSpPr>
        <p:spPr>
          <a:xfrm>
            <a:off x="666750" y="4291905"/>
            <a:ext cx="108585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•Road links to central London and the Thames Valley</a:t>
            </a:r>
            <a:endParaRPr/>
          </a:p>
        </p:txBody>
      </p:sp>
      <p:sp>
        <p:nvSpPr>
          <p:cNvPr id="210" name="Google Shape;210;p23"/>
          <p:cNvSpPr txBox="1"/>
          <p:nvPr/>
        </p:nvSpPr>
        <p:spPr>
          <a:xfrm>
            <a:off x="666750" y="4672905"/>
            <a:ext cx="108585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a:t>
            </a:r>
            <a:r>
              <a:rPr lang="en-US" sz="1500" b="1" i="0" u="none" strike="noStrike" cap="none">
                <a:solidFill>
                  <a:srgbClr val="B91C1C"/>
                </a:solidFill>
                <a:latin typeface="Arimo"/>
                <a:ea typeface="Arimo"/>
                <a:cs typeface="Arimo"/>
                <a:sym typeface="Arimo"/>
              </a:rPr>
              <a:t>Key Local Issues for Reporters:</a:t>
            </a:r>
            <a:endParaRPr/>
          </a:p>
        </p:txBody>
      </p:sp>
      <p:sp>
        <p:nvSpPr>
          <p:cNvPr id="211" name="Google Shape;211;p23"/>
          <p:cNvSpPr txBox="1"/>
          <p:nvPr/>
        </p:nvSpPr>
        <p:spPr>
          <a:xfrm>
            <a:off x="666750" y="4958655"/>
            <a:ext cx="108585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•Housing affordability and rising property prices</a:t>
            </a:r>
            <a:endParaRPr/>
          </a:p>
        </p:txBody>
      </p:sp>
      <p:sp>
        <p:nvSpPr>
          <p:cNvPr id="212" name="Google Shape;212;p23"/>
          <p:cNvSpPr txBox="1"/>
          <p:nvPr/>
        </p:nvSpPr>
        <p:spPr>
          <a:xfrm>
            <a:off x="666750" y="5244405"/>
            <a:ext cx="108585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•Heathrow Airport expansion and environmental impact</a:t>
            </a:r>
            <a:endParaRPr/>
          </a:p>
        </p:txBody>
      </p:sp>
      <p:sp>
        <p:nvSpPr>
          <p:cNvPr id="213" name="Google Shape;213;p23"/>
          <p:cNvSpPr txBox="1"/>
          <p:nvPr/>
        </p:nvSpPr>
        <p:spPr>
          <a:xfrm>
            <a:off x="666750" y="5530155"/>
            <a:ext cx="108585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•Employment growth linked to transport infrastructure</a:t>
            </a:r>
            <a:endParaRPr/>
          </a:p>
        </p:txBody>
      </p:sp>
      <p:sp>
        <p:nvSpPr>
          <p:cNvPr id="215" name="Google Shape;215;p23"/>
          <p:cNvSpPr txBox="1"/>
          <p:nvPr/>
        </p:nvSpPr>
        <p:spPr>
          <a:xfrm>
            <a:off x="666750" y="5815905"/>
            <a:ext cx="108585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a:t>
            </a:r>
            <a:r>
              <a:rPr lang="en-US" sz="1500" b="1" i="0" u="none" strike="noStrike" cap="none">
                <a:solidFill>
                  <a:srgbClr val="B91C1C"/>
                </a:solidFill>
                <a:latin typeface="Arimo"/>
                <a:ea typeface="Arimo"/>
                <a:cs typeface="Arimo"/>
                <a:sym typeface="Arimo"/>
              </a:rPr>
              <a:t>Community Profile:</a:t>
            </a:r>
            <a:endParaRPr/>
          </a:p>
        </p:txBody>
      </p:sp>
      <p:sp>
        <p:nvSpPr>
          <p:cNvPr id="216" name="Google Shape;216;p23"/>
          <p:cNvSpPr txBox="1"/>
          <p:nvPr/>
        </p:nvSpPr>
        <p:spPr>
          <a:xfrm>
            <a:off x="666750" y="6111424"/>
            <a:ext cx="108585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•Predominantly working-class and ethnically diverse population</a:t>
            </a:r>
            <a:endParaRPr/>
          </a:p>
        </p:txBody>
      </p:sp>
      <p:sp>
        <p:nvSpPr>
          <p:cNvPr id="217" name="Google Shape;217;p23"/>
          <p:cNvSpPr txBox="1"/>
          <p:nvPr/>
        </p:nvSpPr>
        <p:spPr>
          <a:xfrm>
            <a:off x="666750" y="6348328"/>
            <a:ext cx="10858500" cy="8959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111111"/>
                </a:solidFill>
                <a:latin typeface="Arimo"/>
                <a:ea typeface="Arimo"/>
                <a:cs typeface="Arimo"/>
                <a:sym typeface="Arimo"/>
              </a:rPr>
              <a:t>•Strong presence of trade unions, faith groups, and community organisations</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Slides>
  <Notes>11</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67</cp:revision>
  <dcterms:modified xsi:type="dcterms:W3CDTF">2026-01-19T14:51:15Z</dcterms:modified>
</cp:coreProperties>
</file>